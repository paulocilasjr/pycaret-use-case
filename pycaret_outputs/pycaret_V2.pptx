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6" r:id="rId4"/>
    <p:sldId id="259" r:id="rId5"/>
    <p:sldId id="257" r:id="rId6"/>
    <p:sldId id="260" r:id="rId7"/>
    <p:sldId id="258" r:id="rId8"/>
    <p:sldId id="261" r:id="rId9"/>
    <p:sldId id="263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3"/>
    <p:restoredTop sz="94694"/>
  </p:normalViewPr>
  <p:slideViewPr>
    <p:cSldViewPr snapToGrid="0">
      <p:cViewPr>
        <p:scale>
          <a:sx n="113" d="100"/>
          <a:sy n="113" d="100"/>
        </p:scale>
        <p:origin x="26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8AC7-3162-3D18-F390-B98D5F41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9F782-7E5B-9503-59B9-4ECD01B48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611D-A851-DD43-3445-9B451E37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5A5A-9ECD-71C6-0915-86B06A12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50D8-C632-C90C-C359-CF90A7F2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8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AFED-9EFA-BC08-A1D1-7449830D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6EDF-1977-5A9E-EDA1-A97C051F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1E9D-8CF2-CB9E-F7E3-30BABAE1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F631F-8FDC-1DF3-C5AA-50323C25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0EBB9-21E1-BB2C-D089-B0DED3E2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5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54AA-EA2D-3E91-CE25-ABA5A92C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A2A94-3EF5-25A2-22A2-419995762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217D4-CB01-F50A-AD87-977DBDD2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9AD93-ADFB-B9A3-A6D5-245236DA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4B47F-29C7-EB55-6A26-6F762BB9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27FA-2FBB-211A-B895-A2137A64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5C8D-A6FF-D691-76FA-B4C47DFB1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9310C-03FE-9151-317A-AE3916E10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6ED7E-F3AA-5E86-EE30-A3F5058A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DF1E9-77E3-52A3-AFBC-E3F9B5B9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82B5C-7855-4AC6-7EB7-B79CCF8A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5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6548-C9D8-0A01-2BBB-D8600190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B55A7-F3AE-B738-5CC8-C0DDA4B21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F6D95-01E7-4B46-22C4-44CC956EC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35B02-530D-D8AE-5D26-E53CC5115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158CF-F5DD-AC4B-1CCB-B1224A8B1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6EC25-B214-57FC-CA84-D89EB7F7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28D59-8C79-669D-68EA-1E28939A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E14CF-8656-F38D-ACB7-7A74F854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4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EE09-C586-A50E-D76A-C5F8AB49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92FE5-938D-FDBE-C438-9E1A04D4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A5D53-F7E2-CEC5-25CA-D6342FCC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D23B4-7486-C370-FB5F-424DD24C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2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993B0-1EC3-8CB3-CEFF-B52732FE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1615F-CB9E-8863-B8B2-DCB5D41A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82FDF-95D9-F292-93B9-F4F96DA8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6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3E29-B559-1FA1-4EEE-CF476B59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9F9C2-C105-B803-457E-5B93D7B6E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1C442-1749-68E7-6171-AA5C8CFEA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13A04-D88F-CE20-F2BF-16E963E6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5B3E8-FE49-90C1-5B3E-869D3CAB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95F79-F967-B02B-79B1-8E0FEAE8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87FB-513E-02A8-29B2-A6BB95C1A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AB455-FF23-AD6C-B09C-CD6769B4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24E41-74A1-4E75-1353-88DA5EA82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59B21-5758-5D10-53AC-5296DF5A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C8689-4B81-7FEF-157A-6CA5068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CDEF-C818-2C87-54EF-8CDDB35D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8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7019-2F1C-546A-FCBC-C06CBD36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38928-043F-3DB0-CD7F-BD5AE4A5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5D8E-11BF-A85C-B78A-7ABCA6D6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C168E-11C3-6FDD-43A7-B6A248D9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1B6AF-49A8-265F-2B33-2353244A7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6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CB5BE-BC5E-6363-34FB-F4134B4B9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9ACEA-A6C3-A047-3A89-B51D5FBD4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C08E-00C9-DCBB-F3BC-48FF096E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012A8-2792-A363-AF1A-E523D290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572A8-13EC-6071-0A18-58CE0BA5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9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E8EB3-C522-9E25-1FB0-901468A7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5C392-4C97-9486-1247-8084782F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FEF5D-0B4F-F10C-6123-D7BC97E86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EA473-2D68-914D-80AC-399A713C626F}" type="datetimeFigureOut">
              <a:rPr lang="en-US" smtClean="0"/>
              <a:t>9/23/24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255D-552C-AE5A-F228-6794BCC1D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04B92-075B-EF66-1408-04CD80377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1AACB-F364-F24B-8AA3-5509179D6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D3BA-E9EB-0675-B38D-6C21616A9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0298C-F825-A00B-FC9C-BE3FE3A8F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V1</a:t>
            </a:r>
          </a:p>
          <a:p>
            <a:r>
              <a:rPr lang="en-US" dirty="0"/>
              <a:t>Paulo</a:t>
            </a:r>
          </a:p>
        </p:txBody>
      </p:sp>
    </p:spTree>
    <p:extLst>
      <p:ext uri="{BB962C8B-B14F-4D97-AF65-F5344CB8AC3E}">
        <p14:creationId xmlns:p14="http://schemas.microsoft.com/office/powerpoint/2010/main" val="12754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ABCD-00ED-FAF2-623F-E0695F8FB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DC1AA-4952-485C-506B-BBC8F0DD7653}"/>
              </a:ext>
            </a:extLst>
          </p:cNvPr>
          <p:cNvSpPr txBox="1"/>
          <p:nvPr/>
        </p:nvSpPr>
        <p:spPr>
          <a:xfrm>
            <a:off x="502024" y="304800"/>
            <a:ext cx="8462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ALL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893BD3-AC5D-063F-7549-0B1C7CDD6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4392"/>
              </p:ext>
            </p:extLst>
          </p:nvPr>
        </p:nvGraphicFramePr>
        <p:xfrm>
          <a:off x="324388" y="889575"/>
          <a:ext cx="11543223" cy="5675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488">
                  <a:extLst>
                    <a:ext uri="{9D8B030D-6E8A-4147-A177-3AD203B41FA5}">
                      <a16:colId xmlns:a16="http://schemas.microsoft.com/office/drawing/2014/main" val="2465789909"/>
                    </a:ext>
                  </a:extLst>
                </a:gridCol>
                <a:gridCol w="1697350">
                  <a:extLst>
                    <a:ext uri="{9D8B030D-6E8A-4147-A177-3AD203B41FA5}">
                      <a16:colId xmlns:a16="http://schemas.microsoft.com/office/drawing/2014/main" val="381392129"/>
                    </a:ext>
                  </a:extLst>
                </a:gridCol>
                <a:gridCol w="1380330">
                  <a:extLst>
                    <a:ext uri="{9D8B030D-6E8A-4147-A177-3AD203B41FA5}">
                      <a16:colId xmlns:a16="http://schemas.microsoft.com/office/drawing/2014/main" val="3367047581"/>
                    </a:ext>
                  </a:extLst>
                </a:gridCol>
                <a:gridCol w="1380330">
                  <a:extLst>
                    <a:ext uri="{9D8B030D-6E8A-4147-A177-3AD203B41FA5}">
                      <a16:colId xmlns:a16="http://schemas.microsoft.com/office/drawing/2014/main" val="4078511206"/>
                    </a:ext>
                  </a:extLst>
                </a:gridCol>
                <a:gridCol w="1271693">
                  <a:extLst>
                    <a:ext uri="{9D8B030D-6E8A-4147-A177-3AD203B41FA5}">
                      <a16:colId xmlns:a16="http://schemas.microsoft.com/office/drawing/2014/main" val="2994547518"/>
                    </a:ext>
                  </a:extLst>
                </a:gridCol>
                <a:gridCol w="1271693">
                  <a:extLst>
                    <a:ext uri="{9D8B030D-6E8A-4147-A177-3AD203B41FA5}">
                      <a16:colId xmlns:a16="http://schemas.microsoft.com/office/drawing/2014/main" val="1623560389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781616723"/>
                    </a:ext>
                  </a:extLst>
                </a:gridCol>
                <a:gridCol w="1184357">
                  <a:extLst>
                    <a:ext uri="{9D8B030D-6E8A-4147-A177-3AD203B41FA5}">
                      <a16:colId xmlns:a16="http://schemas.microsoft.com/office/drawing/2014/main" val="2617627205"/>
                    </a:ext>
                  </a:extLst>
                </a:gridCol>
                <a:gridCol w="1184357">
                  <a:extLst>
                    <a:ext uri="{9D8B030D-6E8A-4147-A177-3AD203B41FA5}">
                      <a16:colId xmlns:a16="http://schemas.microsoft.com/office/drawing/2014/main" val="4032992207"/>
                    </a:ext>
                  </a:extLst>
                </a:gridCol>
              </a:tblGrid>
              <a:tr h="390378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- (training/validation - file 05_2)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Pycaret (create_model)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(create_model)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Pycaret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tune_model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(tune_model)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(prediction - file 06_1)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 Pycaret (prediction)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 Pycaret (prediction)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889347078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0.74/0.71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361179935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0.69/0.68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837537191"/>
                  </a:ext>
                </a:extLst>
              </a:tr>
              <a:tr h="3903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0.54/0.52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496719372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0.33/0.3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546367788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0.55/0.53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649371303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0.48/0.46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071760895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0.64/0.61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1411409012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0.67/0.66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931505178"/>
                  </a:ext>
                </a:extLst>
              </a:tr>
              <a:tr h="528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2627763390"/>
                  </a:ext>
                </a:extLst>
              </a:tr>
              <a:tr h="7807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 test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Chowell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25" marR="5825" marT="5825" marB="0" anchor="ctr"/>
                </a:tc>
                <a:extLst>
                  <a:ext uri="{0D108BD9-81ED-4DB2-BD59-A6C34878D82A}">
                    <a16:rowId xmlns:a16="http://schemas.microsoft.com/office/drawing/2014/main" val="38429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57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34532-AE7A-BF94-CE47-5ECE607C2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156" y="1923490"/>
            <a:ext cx="3371850" cy="3371850"/>
          </a:xfrm>
        </p:spPr>
      </p:pic>
      <p:pic>
        <p:nvPicPr>
          <p:cNvPr id="7" name="Picture 6" descr="A graph with blue dots and white lines&#10;&#10;Description automatically generated">
            <a:extLst>
              <a:ext uri="{FF2B5EF4-FFF2-40B4-BE49-F238E27FC236}">
                <a16:creationId xmlns:a16="http://schemas.microsoft.com/office/drawing/2014/main" id="{F53AEA2C-7472-6CCC-5377-2DF47C3ED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590" y="1200150"/>
            <a:ext cx="4654352" cy="19326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DC0658-E1A6-FEA8-8E8A-C3C3DA524056}"/>
              </a:ext>
            </a:extLst>
          </p:cNvPr>
          <p:cNvSpPr txBox="1"/>
          <p:nvPr/>
        </p:nvSpPr>
        <p:spPr>
          <a:xfrm>
            <a:off x="1832587" y="1265621"/>
            <a:ext cx="172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BD62C-A6F1-CD39-D72F-48766F2B420A}"/>
              </a:ext>
            </a:extLst>
          </p:cNvPr>
          <p:cNvSpPr txBox="1"/>
          <p:nvPr/>
        </p:nvSpPr>
        <p:spPr>
          <a:xfrm>
            <a:off x="7322267" y="234994"/>
            <a:ext cx="172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Pycaret</a:t>
            </a:r>
            <a:endParaRPr lang="en-US" dirty="0"/>
          </a:p>
        </p:txBody>
      </p:sp>
      <p:pic>
        <p:nvPicPr>
          <p:cNvPr id="3" name="Picture 2" descr="A graph with blue dots&#10;&#10;Description automatically generated">
            <a:extLst>
              <a:ext uri="{FF2B5EF4-FFF2-40B4-BE49-F238E27FC236}">
                <a16:creationId xmlns:a16="http://schemas.microsoft.com/office/drawing/2014/main" id="{EF0963B3-D69E-6EAE-16F3-73B9524E4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516" y="3725248"/>
            <a:ext cx="4611426" cy="2409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42754-A55C-655E-DFBE-5F6772846725}"/>
              </a:ext>
            </a:extLst>
          </p:cNvPr>
          <p:cNvSpPr txBox="1"/>
          <p:nvPr/>
        </p:nvSpPr>
        <p:spPr>
          <a:xfrm>
            <a:off x="7322267" y="723487"/>
            <a:ext cx="44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1FBDE-61D4-AE86-262F-0AC352A9FFE7}"/>
              </a:ext>
            </a:extLst>
          </p:cNvPr>
          <p:cNvSpPr txBox="1"/>
          <p:nvPr/>
        </p:nvSpPr>
        <p:spPr>
          <a:xfrm>
            <a:off x="7322267" y="3408171"/>
            <a:ext cx="62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179111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CDBF-8FDD-C14A-E47A-AF5BD171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103437"/>
            <a:ext cx="4020671" cy="1325563"/>
          </a:xfrm>
        </p:spPr>
        <p:txBody>
          <a:bodyPr/>
          <a:lstStyle/>
          <a:p>
            <a:r>
              <a:rPr lang="en-US" dirty="0"/>
              <a:t>PAPER DETAILS</a:t>
            </a:r>
          </a:p>
        </p:txBody>
      </p:sp>
    </p:spTree>
    <p:extLst>
      <p:ext uri="{BB962C8B-B14F-4D97-AF65-F5344CB8AC3E}">
        <p14:creationId xmlns:p14="http://schemas.microsoft.com/office/powerpoint/2010/main" val="99764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6D18C-5F90-7CA1-0B7A-F65CC6518519}"/>
              </a:ext>
            </a:extLst>
          </p:cNvPr>
          <p:cNvSpPr txBox="1"/>
          <p:nvPr/>
        </p:nvSpPr>
        <p:spPr>
          <a:xfrm>
            <a:off x="215153" y="286870"/>
            <a:ext cx="125326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LLR6: the six-feature logistic LASSO regression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classifer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-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tuned the optimal hyperparameters using fivefold cross-validation on the training set;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		- random search approach with the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RandomizedSearchCV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function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-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maximize the AUC scores in a fivefold cross-validation of the training data.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		- evaluated using 2,000 repeats of fivefold cross-validation to ensure unbiased results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(equating to 10,000 random training–validation splits in total).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79A13-9D92-26D6-1E55-2428A71DD087}"/>
              </a:ext>
            </a:extLst>
          </p:cNvPr>
          <p:cNvSpPr txBox="1"/>
          <p:nvPr/>
        </p:nvSpPr>
        <p:spPr>
          <a:xfrm>
            <a:off x="421341" y="2274837"/>
            <a:ext cx="65890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Combinations of hyperparameters: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solver = ‘saga’,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penalty = ‘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elasticnet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class_weight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 ‘balanced’,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l1_ratio from 0 to 1 (step size 0.1),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max_iter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100 to 1,000 (step size 100) </a:t>
            </a:r>
          </a:p>
          <a:p>
            <a:pPr algn="just"/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 from 10−3 to 103 (logarithmic step size 1).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6234B-FF18-92EE-5E0C-64DB26BC3BED}"/>
              </a:ext>
            </a:extLst>
          </p:cNvPr>
          <p:cNvSpPr txBox="1"/>
          <p:nvPr/>
        </p:nvSpPr>
        <p:spPr>
          <a:xfrm>
            <a:off x="6844552" y="2274837"/>
            <a:ext cx="39489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Optimal combination: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solver = ‘saga’,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penalty = ‘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elasticnet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max_ 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iter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100,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l1_ratio = 1, </a:t>
            </a:r>
          </a:p>
          <a:p>
            <a:pPr lvl="1" algn="just"/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class_weight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= ‘balanced’ </a:t>
            </a:r>
          </a:p>
          <a:p>
            <a:pPr lvl="1" algn="just"/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 = 0.1.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E2F5F-1CD1-24E8-6259-6ECAF699083E}"/>
              </a:ext>
            </a:extLst>
          </p:cNvPr>
          <p:cNvSpPr txBox="1"/>
          <p:nvPr/>
        </p:nvSpPr>
        <p:spPr>
          <a:xfrm>
            <a:off x="950259" y="5506131"/>
            <a:ext cx="4464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Finally, the selected models were further tested on multiple unseen test cohorts.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 shot of a chart&#10;&#10;Description automatically generated">
            <a:extLst>
              <a:ext uri="{FF2B5EF4-FFF2-40B4-BE49-F238E27FC236}">
                <a16:creationId xmlns:a16="http://schemas.microsoft.com/office/drawing/2014/main" id="{E02D034C-E383-E004-EF33-E42DC7AA2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331" y="5087464"/>
            <a:ext cx="2600885" cy="14836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1074FA-192C-1446-8D95-7BDAA8D60CC3}"/>
              </a:ext>
            </a:extLst>
          </p:cNvPr>
          <p:cNvSpPr txBox="1"/>
          <p:nvPr/>
        </p:nvSpPr>
        <p:spPr>
          <a:xfrm>
            <a:off x="9133915" y="5598463"/>
            <a:ext cx="2600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File 05_5: extracts coefficients and intercept to calculate LORIS</a:t>
            </a:r>
          </a:p>
        </p:txBody>
      </p:sp>
    </p:spTree>
    <p:extLst>
      <p:ext uri="{BB962C8B-B14F-4D97-AF65-F5344CB8AC3E}">
        <p14:creationId xmlns:p14="http://schemas.microsoft.com/office/powerpoint/2010/main" val="147219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14FCF-F202-0469-39D1-25941E51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743B-28BB-E03E-8EFB-17E5D14E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64" y="2103437"/>
            <a:ext cx="402067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PyCaret</a:t>
            </a:r>
            <a:br>
              <a:rPr lang="en-US" dirty="0"/>
            </a:br>
            <a:r>
              <a:rPr lang="en-US" dirty="0"/>
              <a:t>Run #1 and #2</a:t>
            </a:r>
            <a:br>
              <a:rPr lang="en-US" dirty="0"/>
            </a:br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228259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A5EB2-8CBD-13C8-C5CF-5A55B3117A40}"/>
              </a:ext>
            </a:extLst>
          </p:cNvPr>
          <p:cNvSpPr txBox="1"/>
          <p:nvPr/>
        </p:nvSpPr>
        <p:spPr>
          <a:xfrm>
            <a:off x="860612" y="804173"/>
            <a:ext cx="113313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cv =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RepeatedKFold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n_splits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=5,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n_repeats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=2000,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random_state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=42)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setup(data=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dataChowell_Train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target=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phenoNA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randomSeed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normalize=True,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normalize_method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zscore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fold_strategy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=cv,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use_gpu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penalty='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elasticnet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solver='saga', l1_ratio=1,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='balanced', C=0.1)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param_grid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{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'solver': ['saga'],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'penalty': ['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elasticnet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': ['balanced'],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'l1_ratio': [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/10.0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range(0, 11)],  # l1_ratio from 0 to 1 in steps of 0.1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max_iter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': [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range(100, 1100, 100)],  #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max_iter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from 100 to 1000 in steps of 100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'C': [10**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range(-3, 4)]  # C from 10^-3 to 10^3 in logarithmic steps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}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tune_model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(LLR6_model, optimize='AUC',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custom_grid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param_grid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predictions_df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(tuned_LLR6_model, data=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dataChowell_Test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2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4D2BF-7571-B1B8-8979-EAFC4CFE4176}"/>
              </a:ext>
            </a:extLst>
          </p:cNvPr>
          <p:cNvGraphicFramePr>
            <a:graphicFrameLocks noGrp="1"/>
          </p:cNvGraphicFramePr>
          <p:nvPr/>
        </p:nvGraphicFramePr>
        <p:xfrm>
          <a:off x="2794000" y="1311275"/>
          <a:ext cx="6604000" cy="4236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401304165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389632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3050148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7378034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7140351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0035728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75052509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65737532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22408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628971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0.4211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0.2336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06767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0.7775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0.4426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0.5567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39118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0.6519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0.2474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51516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0.4681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0.2612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4928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78586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06921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45808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0.7892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66818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0.5472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12828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0.6297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0.3168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6633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0.0417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0.0582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65815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2636587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[10002 rows x 7 columns]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9133718"/>
                  </a:ext>
                </a:extLst>
              </a:tr>
              <a:tr h="203200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model created: LogisticRegression(C=0.1, class_weight='balanced', dual=False,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6179572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fit_intercept=True, intercept_scaling=1, l1_ratio=1,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764897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max_iter=1000, multi_class='auto', n_jobs=None,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4268635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penalty='elasticnet', random_state=1, solver='saga',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2223052"/>
                  </a:ext>
                </a:extLst>
              </a:tr>
              <a:tr h="2032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                   tol=0.0001, verbose=0,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72208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94A8CF-9D0E-1C0A-B527-ABBC9F821086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Create_model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0666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7EB0-544A-7AFA-CF35-4D7D1551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EA5165-F07D-300A-1C37-1C17909EB84F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Tune_model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C1F3F6-1054-C00C-9141-4291BAEE98B5}"/>
              </a:ext>
            </a:extLst>
          </p:cNvPr>
          <p:cNvGraphicFramePr>
            <a:graphicFrameLocks noGrp="1"/>
          </p:cNvGraphicFramePr>
          <p:nvPr/>
        </p:nvGraphicFramePr>
        <p:xfrm>
          <a:off x="2794000" y="1327150"/>
          <a:ext cx="6604000" cy="4204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5033698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24314802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956668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061015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1298261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13538469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1800833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7410989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58976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23129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0.6593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0.2482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1550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0.7778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0.3438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88027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0.7223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0.5455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0.4528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0.2154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0.2177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06158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0.7102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0.5057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0.2719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0.2729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6461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0.5556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0.3529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1646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...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831055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0.5122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0.2506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20143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0.7862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0.5833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0.3884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925966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9999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0.7465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0.6304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0.5979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94727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0.6887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0.7355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0.6116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0.4748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0.532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0.3046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0.3118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65512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0.0415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0.0799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73938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6770565"/>
                  </a:ext>
                </a:extLst>
              </a:tr>
              <a:tr h="2032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[10002 rows x 7 columns]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8013477"/>
                  </a:ext>
                </a:extLst>
              </a:tr>
              <a:tr h="203200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Done tune: LogisticRegression(C=0.01, class_weight='balanced', dual=False,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7896682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fit_intercept=True, intercept_scaling=1, l1_ratio=0.1,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491465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max_iter=1000, multi_class='auto', n_jobs=None,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4686058"/>
                  </a:ext>
                </a:extLst>
              </a:tr>
              <a:tr h="20320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penalty='elasticnet', random_state=1, solver='saga',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038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672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4FD0-0E9D-E63A-A827-C532D998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1D1D1-7CC3-6574-CFA4-DA27078F7F7F}"/>
              </a:ext>
            </a:extLst>
          </p:cNvPr>
          <p:cNvSpPr txBox="1"/>
          <p:nvPr/>
        </p:nvSpPr>
        <p:spPr>
          <a:xfrm>
            <a:off x="1012371" y="555171"/>
            <a:ext cx="4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Prediction()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CA89D9-5089-09D1-70D0-192D9737D2F7}"/>
              </a:ext>
            </a:extLst>
          </p:cNvPr>
          <p:cNvGraphicFramePr>
            <a:graphicFrameLocks noGrp="1"/>
          </p:cNvGraphicFramePr>
          <p:nvPr/>
        </p:nvGraphicFramePr>
        <p:xfrm>
          <a:off x="2571750" y="3140075"/>
          <a:ext cx="7048498" cy="578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6008">
                  <a:extLst>
                    <a:ext uri="{9D8B030D-6E8A-4147-A177-3AD203B41FA5}">
                      <a16:colId xmlns:a16="http://schemas.microsoft.com/office/drawing/2014/main" val="563579309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3292659452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437041216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2367645269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2597799600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1121242417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1164256391"/>
                    </a:ext>
                  </a:extLst>
                </a:gridCol>
                <a:gridCol w="826070">
                  <a:extLst>
                    <a:ext uri="{9D8B030D-6E8A-4147-A177-3AD203B41FA5}">
                      <a16:colId xmlns:a16="http://schemas.microsoft.com/office/drawing/2014/main" val="353937259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Model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49296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Logistic Regression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0.7165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0.6921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0.5433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0.4395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0.4859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0.2932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0.2963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4538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8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7ADB-538C-A548-9FCC-12E12ED6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#2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ABF63-0E4B-6EB8-BCD4-012B3E90C1CE}"/>
              </a:ext>
            </a:extLst>
          </p:cNvPr>
          <p:cNvSpPr txBox="1"/>
          <p:nvPr/>
        </p:nvSpPr>
        <p:spPr>
          <a:xfrm>
            <a:off x="430306" y="1502688"/>
            <a:ext cx="11331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setup(data=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dataChowell_Train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target=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phenoNA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session_id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randomSeed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use_gpu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=True)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('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tune_model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(LLR6_model)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predictions_df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predict_model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(tuned_LLR6_model, data=</a:t>
            </a: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dataChowell_Test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423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FF754A-91D2-1D7B-0899-B490DF32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330608"/>
              </p:ext>
            </p:extLst>
          </p:nvPr>
        </p:nvGraphicFramePr>
        <p:xfrm>
          <a:off x="3206750" y="1138872"/>
          <a:ext cx="5778500" cy="4580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77930007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4053717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3070845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1937911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9654712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8399178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8885254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Description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41134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6236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Target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Response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6611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Target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Binary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26949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Original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(964,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45464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(964,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97258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(674,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37869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Transformed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test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shape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(290,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22)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30610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features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63228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Preprocess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60249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type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simple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1632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Numeric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50890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Categorical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imputation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63524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Generator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StratifiedKFold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25729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Number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23989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CPU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Jobs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4470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GPU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TRUE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31960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Experiment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FALSE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55119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Experiment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clf-default-name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0182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USI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7ed2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502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5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85916E-99B0-1A32-6C87-8C1612D49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02446"/>
              </p:ext>
            </p:extLst>
          </p:nvPr>
        </p:nvGraphicFramePr>
        <p:xfrm>
          <a:off x="2794000" y="1428750"/>
          <a:ext cx="66040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4073219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879953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880577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7838012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0239322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96092492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9394717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83310668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18876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0.7938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39889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0.8088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0.8182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0.5806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0.5053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94036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0.3366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99079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0.1717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0.1786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810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0.1388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107024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0.5161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421685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0.6866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0.4286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0.0798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0.0971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25954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0.4828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46412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0.3158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0.1937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74548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0.5556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0.2377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23755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0.3047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0.5978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15021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0.0402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0.0524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0.0872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0.1281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0.1038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0.1177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0.1248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354961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804970-4768-669B-7923-CF9F6B26A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12787"/>
              </p:ext>
            </p:extLst>
          </p:nvPr>
        </p:nvGraphicFramePr>
        <p:xfrm>
          <a:off x="3619500" y="4273550"/>
          <a:ext cx="4953000" cy="136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3854792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740268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98725277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17503917"/>
                    </a:ext>
                  </a:extLst>
                </a:gridCol>
              </a:tblGrid>
              <a:tr h="2032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LogisticRegression(C=1.0, class_weight=None, dual=False, fit_intercept=True,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937176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intercept_scaling=1, l1_ratio=None, max_iter=1000,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0266735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multi_class='auto', n_jobs=None, penalty='l2',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1593607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random_state=1, solver='lbfgs', tol=0.0001, verbose=0,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28499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47407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59319FC-840F-D607-0DDC-E8E6A0B49005}"/>
              </a:ext>
            </a:extLst>
          </p:cNvPr>
          <p:cNvSpPr txBox="1"/>
          <p:nvPr/>
        </p:nvSpPr>
        <p:spPr>
          <a:xfrm>
            <a:off x="2366681" y="717176"/>
            <a:ext cx="315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Create_Model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93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80657A-06D4-F7D7-759F-FCF574F32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37170"/>
              </p:ext>
            </p:extLst>
          </p:nvPr>
        </p:nvGraphicFramePr>
        <p:xfrm>
          <a:off x="2794000" y="1520371"/>
          <a:ext cx="6604000" cy="264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52635141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83973782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53123598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57744113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9765923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08461542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703941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1207758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Fold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93850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02458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0.7941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0.4655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06674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0.2829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13674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0.1981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0.2092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42416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0.1369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87982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0.7273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0.5161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0.3861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0.4153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9483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0.0746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23281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0.6842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0.6667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0.2129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9886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0.7015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0.4545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0.3333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0.1681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75114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0.1579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61908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0.7373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0.2482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0.6365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0.3483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0.2668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60482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0.0561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0.0895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0.1047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0.0986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0.1039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04851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A58614-2D09-25E6-94F8-A531BAFDB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95126"/>
              </p:ext>
            </p:extLst>
          </p:nvPr>
        </p:nvGraphicFramePr>
        <p:xfrm>
          <a:off x="4032250" y="4657544"/>
          <a:ext cx="4127500" cy="136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155388911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1604303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14732035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LogisticRegression(C=1.0, class_weight=None, dual=False, fit_intercept=True,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663106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intercept_scaling=1, l1_ratio=None, max_iter=1000,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651811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multi_class='auto', n_jobs=None, penalty='l2',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278679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random_state=1, solver='lbfgs', tol=0.0001, verbose=0,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833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                   warm_start=False)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2795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62EB8D-94DA-67B4-DE79-6122AF6C27A2}"/>
              </a:ext>
            </a:extLst>
          </p:cNvPr>
          <p:cNvSpPr txBox="1"/>
          <p:nvPr/>
        </p:nvSpPr>
        <p:spPr>
          <a:xfrm>
            <a:off x="2366681" y="717176"/>
            <a:ext cx="315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Tune_model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666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9D1724-4F7D-05A6-F1CF-527F45595CD4}"/>
              </a:ext>
            </a:extLst>
          </p:cNvPr>
          <p:cNvGraphicFramePr>
            <a:graphicFrameLocks noGrp="1"/>
          </p:cNvGraphicFramePr>
          <p:nvPr/>
        </p:nvGraphicFramePr>
        <p:xfrm>
          <a:off x="1968500" y="3225800"/>
          <a:ext cx="8255000" cy="40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73643575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75462064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67366574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10204013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27689435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8316302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46951474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0904746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679611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70857283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Model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Accuracy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Recall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Prec.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Kappa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MCC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24125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Logistic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Regression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0.6759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0.2283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0.5472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0.2071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0.2362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76437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8FD73E-A862-4284-B3CA-B704DBF04EF8}"/>
              </a:ext>
            </a:extLst>
          </p:cNvPr>
          <p:cNvSpPr txBox="1"/>
          <p:nvPr/>
        </p:nvSpPr>
        <p:spPr>
          <a:xfrm>
            <a:off x="4245429" y="1796143"/>
            <a:ext cx="414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Predict_model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7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1607</Words>
  <Application>Microsoft Macintosh PowerPoint</Application>
  <PresentationFormat>Widescreen</PresentationFormat>
  <Paragraphs>706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Office Theme</vt:lpstr>
      <vt:lpstr>LORIS</vt:lpstr>
      <vt:lpstr>PowerPoint Presentation</vt:lpstr>
      <vt:lpstr>PowerPoint Presentation</vt:lpstr>
      <vt:lpstr>PAPER DETAILS</vt:lpstr>
      <vt:lpstr>PowerPoint Presentation</vt:lpstr>
      <vt:lpstr>PyCaret Run #1 and #2 details</vt:lpstr>
      <vt:lpstr>PowerPoint Presentation</vt:lpstr>
      <vt:lpstr>PowerPoint Presentation</vt:lpstr>
      <vt:lpstr>PowerPoint Presentation</vt:lpstr>
      <vt:lpstr>PowerPoint Presentation</vt:lpstr>
      <vt:lpstr>Run #2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Morais Lyra, Paulo Cilas</dc:creator>
  <cp:lastModifiedBy>Morais Lyra, Paulo Cilas</cp:lastModifiedBy>
  <cp:revision>3</cp:revision>
  <dcterms:created xsi:type="dcterms:W3CDTF">2024-09-20T22:39:05Z</dcterms:created>
  <dcterms:modified xsi:type="dcterms:W3CDTF">2024-09-24T15:05:00Z</dcterms:modified>
</cp:coreProperties>
</file>